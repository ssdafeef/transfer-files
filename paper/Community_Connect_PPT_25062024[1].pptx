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9" r:id="rId6"/>
    <p:sldId id="270" r:id="rId7"/>
    <p:sldId id="264" r:id="rId8"/>
    <p:sldId id="271" r:id="rId9"/>
    <p:sldId id="262" r:id="rId10"/>
    <p:sldId id="263" r:id="rId11"/>
    <p:sldId id="267" r:id="rId12"/>
    <p:sldId id="272" r:id="rId13"/>
    <p:sldId id="265" r:id="rId14"/>
    <p:sldId id="273" r:id="rId15"/>
    <p:sldId id="266"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44" autoAdjust="0"/>
    <p:restoredTop sz="94660"/>
  </p:normalViewPr>
  <p:slideViewPr>
    <p:cSldViewPr snapToGrid="0">
      <p:cViewPr varScale="1">
        <p:scale>
          <a:sx n="84" d="100"/>
          <a:sy n="84" d="100"/>
        </p:scale>
        <p:origin x="60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F9FDF1-EB99-6017-DBAF-1AEF52EC5671}"/>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5" name="Footer Placeholder 4">
            <a:extLst>
              <a:ext uri="{FF2B5EF4-FFF2-40B4-BE49-F238E27FC236}">
                <a16:creationId xmlns:a16="http://schemas.microsoft.com/office/drawing/2014/main" id="{3E5B0DA7-538A-57E8-5ADE-8DDC4C934C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0FF5D2-863A-7252-52D7-01681B4D4A1F}"/>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2265913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10CD-7CD8-C3AF-F4B8-37141FC069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D729E2-1B7F-9E44-ECB3-F1047FC731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3A228E-A354-38AF-AAFD-4CA8E431A764}"/>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5" name="Footer Placeholder 4">
            <a:extLst>
              <a:ext uri="{FF2B5EF4-FFF2-40B4-BE49-F238E27FC236}">
                <a16:creationId xmlns:a16="http://schemas.microsoft.com/office/drawing/2014/main" id="{78214B42-D325-05E6-6095-61CB6B8133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C6BC8A-57B3-A7B9-7B5F-624939F5F82A}"/>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3930621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A15B0-240B-6BEF-4675-C9B6203886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1624C97-8979-32E1-9049-E99C0A7700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EFEA84-D2FD-6D0A-42E0-19E0DE37EF07}"/>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5" name="Footer Placeholder 4">
            <a:extLst>
              <a:ext uri="{FF2B5EF4-FFF2-40B4-BE49-F238E27FC236}">
                <a16:creationId xmlns:a16="http://schemas.microsoft.com/office/drawing/2014/main" id="{A6BE075E-E2CF-E4F1-E07A-E85C5BFDE5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48C97-456F-52CB-C49D-E946E5B9AA53}"/>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1820607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F32C6-9B64-E760-40A3-83DFB5224E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8B4429-64F8-8076-BC43-0FB2B4CF12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945DFDC-4583-8C51-1BB7-4E283CD601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3A768F-B41B-CB01-719A-75A884C589DB}"/>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6" name="Footer Placeholder 5">
            <a:extLst>
              <a:ext uri="{FF2B5EF4-FFF2-40B4-BE49-F238E27FC236}">
                <a16:creationId xmlns:a16="http://schemas.microsoft.com/office/drawing/2014/main" id="{EB35FA90-E547-3127-5899-EFC99A0CAA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10E2E6-E0AC-C4CF-4106-2F025790C571}"/>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3240136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A6D63-BD2B-144D-6635-CD08A19E926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4098E6-E35E-05EF-2871-1F2810BBB2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52007-7CB7-BA1E-7821-1B2110AFD8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25B816-90AE-B2FD-08DF-1F0639146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A2CDAC-ACE7-250F-3733-574E374ECD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768FB6-934C-F3AE-C877-394647F5B8B4}"/>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8" name="Footer Placeholder 7">
            <a:extLst>
              <a:ext uri="{FF2B5EF4-FFF2-40B4-BE49-F238E27FC236}">
                <a16:creationId xmlns:a16="http://schemas.microsoft.com/office/drawing/2014/main" id="{35DABB4D-A9A3-19C3-11BB-92146A2ACF2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450B86-1280-21C1-B515-DDA0521DE00A}"/>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3647505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467CD-15D3-6177-B7A3-2434CE2CA0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CB08F5-3ACC-9640-C34E-1C67FD299C75}"/>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4" name="Footer Placeholder 3">
            <a:extLst>
              <a:ext uri="{FF2B5EF4-FFF2-40B4-BE49-F238E27FC236}">
                <a16:creationId xmlns:a16="http://schemas.microsoft.com/office/drawing/2014/main" id="{0BC49BD3-E7F3-4E35-489E-F0C57CBC47F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0F69787-2E4E-BC0D-97B0-A02B6A5CADCA}"/>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864354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6D03BE-BE76-204D-651D-55FCDC1DB3D6}"/>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3" name="Footer Placeholder 2">
            <a:extLst>
              <a:ext uri="{FF2B5EF4-FFF2-40B4-BE49-F238E27FC236}">
                <a16:creationId xmlns:a16="http://schemas.microsoft.com/office/drawing/2014/main" id="{F7AA11DA-928B-9179-41F8-76745541F9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F38894E-9370-FDDA-536B-2510D98D322C}"/>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2720901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AAC1A-E788-033D-0808-819B2970C1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C8A961-8771-6E6A-F6A7-AFD6552FED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462B37-B6BC-7D55-880D-868310D4A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B8BF61-0950-5CED-75FC-DA68962FDBEB}"/>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6" name="Footer Placeholder 5">
            <a:extLst>
              <a:ext uri="{FF2B5EF4-FFF2-40B4-BE49-F238E27FC236}">
                <a16:creationId xmlns:a16="http://schemas.microsoft.com/office/drawing/2014/main" id="{981533B6-11D8-8BBE-F938-D8A0C27A20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E68661-5CA2-8D25-F3A3-34B9B2E5BCEE}"/>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143966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B20E-554E-BD39-30E5-418B4ADCC0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DFE1F2-C81B-BE51-3B8B-000DC5E514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BDDE61-F62D-9368-036E-F7CCE387ED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CA5F5B-B1AE-E257-8828-B20555D26883}"/>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6" name="Footer Placeholder 5">
            <a:extLst>
              <a:ext uri="{FF2B5EF4-FFF2-40B4-BE49-F238E27FC236}">
                <a16:creationId xmlns:a16="http://schemas.microsoft.com/office/drawing/2014/main" id="{6B9C8425-7D6E-1985-C813-1327FF49AB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FA94C8-A165-CB4D-AB45-E38D6A9C134C}"/>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3534948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27F79-0102-95D9-6052-7197906EE1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C1A7D5-AF9A-B204-EACB-6199B67E9C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7A5B46-0E14-46D3-B80A-B07671396D5C}"/>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5" name="Footer Placeholder 4">
            <a:extLst>
              <a:ext uri="{FF2B5EF4-FFF2-40B4-BE49-F238E27FC236}">
                <a16:creationId xmlns:a16="http://schemas.microsoft.com/office/drawing/2014/main" id="{ACA41B9B-2E83-2262-09D4-DBA65B7E11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D5BA7E-9CBF-36DF-C2AC-975209CE85EB}"/>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1587425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1AC131-9742-CED9-8950-E5B4FC66AE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A92461-E947-4780-E67A-E844AE0D94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AB3D60-990D-A04E-254D-FB2AF27C67FB}"/>
              </a:ext>
            </a:extLst>
          </p:cNvPr>
          <p:cNvSpPr>
            <a:spLocks noGrp="1"/>
          </p:cNvSpPr>
          <p:nvPr>
            <p:ph type="dt" sz="half" idx="10"/>
          </p:nvPr>
        </p:nvSpPr>
        <p:spPr/>
        <p:txBody>
          <a:bodyPr/>
          <a:lstStyle/>
          <a:p>
            <a:fld id="{1A0E503B-D35C-4FEA-9F9A-A1A68E8C88A8}" type="datetimeFigureOut">
              <a:rPr lang="en-IN" smtClean="0"/>
              <a:t>28-07-2025</a:t>
            </a:fld>
            <a:endParaRPr lang="en-IN"/>
          </a:p>
        </p:txBody>
      </p:sp>
      <p:sp>
        <p:nvSpPr>
          <p:cNvPr id="5" name="Footer Placeholder 4">
            <a:extLst>
              <a:ext uri="{FF2B5EF4-FFF2-40B4-BE49-F238E27FC236}">
                <a16:creationId xmlns:a16="http://schemas.microsoft.com/office/drawing/2014/main" id="{D39267BA-9C4C-AA98-F48C-722786556B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3AA372-1076-F1BD-998F-7E4047D907DB}"/>
              </a:ext>
            </a:extLst>
          </p:cNvPr>
          <p:cNvSpPr>
            <a:spLocks noGrp="1"/>
          </p:cNvSpPr>
          <p:nvPr>
            <p:ph type="sldNum" sz="quarter" idx="12"/>
          </p:nvPr>
        </p:nvSpPr>
        <p:spPr/>
        <p:txBody>
          <a:bodyPr/>
          <a:lstStyle/>
          <a:p>
            <a:fld id="{D22D3F15-DE5D-402A-9897-702D5D819066}" type="slidenum">
              <a:rPr lang="en-IN" smtClean="0"/>
              <a:t>‹#›</a:t>
            </a:fld>
            <a:endParaRPr lang="en-IN"/>
          </a:p>
        </p:txBody>
      </p:sp>
    </p:spTree>
    <p:extLst>
      <p:ext uri="{BB962C8B-B14F-4D97-AF65-F5344CB8AC3E}">
        <p14:creationId xmlns:p14="http://schemas.microsoft.com/office/powerpoint/2010/main" val="2772991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F55CE0-4170-D731-235B-54F4EAED87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DE4F05-F217-CFA0-F8C1-C19A81B738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6D81FD-A393-3596-9625-467D47AA9B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0E503B-D35C-4FEA-9F9A-A1A68E8C88A8}" type="datetimeFigureOut">
              <a:rPr lang="en-IN" smtClean="0"/>
              <a:t>28-07-2025</a:t>
            </a:fld>
            <a:endParaRPr lang="en-IN"/>
          </a:p>
        </p:txBody>
      </p:sp>
      <p:sp>
        <p:nvSpPr>
          <p:cNvPr id="5" name="Footer Placeholder 4">
            <a:extLst>
              <a:ext uri="{FF2B5EF4-FFF2-40B4-BE49-F238E27FC236}">
                <a16:creationId xmlns:a16="http://schemas.microsoft.com/office/drawing/2014/main" id="{0048103B-B607-C4CC-0300-D37F3655D7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2E58741-3312-5250-3D29-051C54752B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2D3F15-DE5D-402A-9897-702D5D819066}" type="slidenum">
              <a:rPr lang="en-IN" smtClean="0"/>
              <a:t>‹#›</a:t>
            </a:fld>
            <a:endParaRPr lang="en-IN"/>
          </a:p>
        </p:txBody>
      </p:sp>
      <p:pic>
        <p:nvPicPr>
          <p:cNvPr id="7" name="Picture 6">
            <a:extLst>
              <a:ext uri="{FF2B5EF4-FFF2-40B4-BE49-F238E27FC236}">
                <a16:creationId xmlns:a16="http://schemas.microsoft.com/office/drawing/2014/main" id="{F090B115-20DE-4B95-D256-D68884388C33}"/>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9179" t="9113" r="8575" b="6650"/>
          <a:stretch/>
        </p:blipFill>
        <p:spPr>
          <a:xfrm>
            <a:off x="10610850" y="136525"/>
            <a:ext cx="1485900" cy="746223"/>
          </a:xfrm>
          <a:prstGeom prst="rect">
            <a:avLst/>
          </a:prstGeom>
        </p:spPr>
      </p:pic>
    </p:spTree>
    <p:extLst>
      <p:ext uri="{BB962C8B-B14F-4D97-AF65-F5344CB8AC3E}">
        <p14:creationId xmlns:p14="http://schemas.microsoft.com/office/powerpoint/2010/main" val="3399059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wassan.or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9053EB3-EC2E-BCB9-C93E-F85B6E42E046}"/>
              </a:ext>
            </a:extLst>
          </p:cNvPr>
          <p:cNvSpPr>
            <a:spLocks noGrp="1"/>
          </p:cNvSpPr>
          <p:nvPr>
            <p:ph type="subTitle" idx="4294967295"/>
          </p:nvPr>
        </p:nvSpPr>
        <p:spPr>
          <a:xfrm>
            <a:off x="1524000" y="3602038"/>
            <a:ext cx="3390900" cy="1655762"/>
          </a:xfrm>
        </p:spPr>
        <p:txBody>
          <a:bodyPr>
            <a:normAutofit fontScale="92500" lnSpcReduction="20000"/>
          </a:bodyPr>
          <a:lstStyle/>
          <a:p>
            <a:pPr marL="0" indent="0">
              <a:buNone/>
            </a:pPr>
            <a:endParaRPr lang="en-IN" dirty="0"/>
          </a:p>
          <a:p>
            <a:pPr marL="0" indent="0">
              <a:buNone/>
            </a:pPr>
            <a:r>
              <a:rPr lang="en-IN" dirty="0"/>
              <a:t>Team Members</a:t>
            </a:r>
          </a:p>
          <a:p>
            <a:pPr marL="0" indent="0">
              <a:buNone/>
            </a:pPr>
            <a:r>
              <a:rPr lang="en-IN" dirty="0"/>
              <a:t>AFEEF AHMED SHAIK</a:t>
            </a:r>
          </a:p>
          <a:p>
            <a:pPr marL="0" indent="0">
              <a:buNone/>
            </a:pPr>
            <a:r>
              <a:rPr lang="en-IN" dirty="0"/>
              <a:t>(RA2311026050166)</a:t>
            </a:r>
          </a:p>
        </p:txBody>
      </p:sp>
      <p:sp>
        <p:nvSpPr>
          <p:cNvPr id="4" name="Subtitle 2">
            <a:extLst>
              <a:ext uri="{FF2B5EF4-FFF2-40B4-BE49-F238E27FC236}">
                <a16:creationId xmlns:a16="http://schemas.microsoft.com/office/drawing/2014/main" id="{FED1D693-4665-3BC7-9760-02FF9440C3BF}"/>
              </a:ext>
            </a:extLst>
          </p:cNvPr>
          <p:cNvSpPr txBox="1">
            <a:spLocks/>
          </p:cNvSpPr>
          <p:nvPr/>
        </p:nvSpPr>
        <p:spPr>
          <a:xfrm>
            <a:off x="7496175" y="3602038"/>
            <a:ext cx="3171825"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N" dirty="0"/>
          </a:p>
          <a:p>
            <a:pPr marL="0" indent="0">
              <a:buFont typeface="Arial" panose="020B0604020202020204" pitchFamily="34" charset="0"/>
              <a:buNone/>
            </a:pPr>
            <a:r>
              <a:rPr lang="en-IN" dirty="0"/>
              <a:t>Mentor Details</a:t>
            </a:r>
          </a:p>
          <a:p>
            <a:pPr marL="0" indent="0">
              <a:buNone/>
            </a:pPr>
            <a:r>
              <a:rPr lang="en-IN" dirty="0"/>
              <a:t>Suganya Suchithrra</a:t>
            </a:r>
          </a:p>
          <a:p>
            <a:pPr marL="0" indent="0">
              <a:buFont typeface="Arial" panose="020B0604020202020204" pitchFamily="34" charset="0"/>
              <a:buNone/>
            </a:pPr>
            <a:endParaRPr lang="en-IN" dirty="0"/>
          </a:p>
        </p:txBody>
      </p:sp>
      <p:sp>
        <p:nvSpPr>
          <p:cNvPr id="5" name="Title 1">
            <a:extLst>
              <a:ext uri="{FF2B5EF4-FFF2-40B4-BE49-F238E27FC236}">
                <a16:creationId xmlns:a16="http://schemas.microsoft.com/office/drawing/2014/main" id="{04228CAB-22B7-7DB7-D8DA-4E0B0A031024}"/>
              </a:ext>
            </a:extLst>
          </p:cNvPr>
          <p:cNvSpPr>
            <a:spLocks noGrp="1"/>
          </p:cNvSpPr>
          <p:nvPr>
            <p:ph type="ctrTitle" idx="4294967295"/>
          </p:nvPr>
        </p:nvSpPr>
        <p:spPr>
          <a:xfrm>
            <a:off x="1524000" y="1122363"/>
            <a:ext cx="9144000" cy="2387600"/>
          </a:xfrm>
        </p:spPr>
        <p:txBody>
          <a:bodyPr anchor="b"/>
          <a:lstStyle>
            <a:lvl1pPr algn="ctr">
              <a:defRPr sz="6000"/>
            </a:lvl1pPr>
          </a:lstStyle>
          <a:p>
            <a:r>
              <a:rPr lang="en-US" b="1" dirty="0">
                <a:latin typeface="Aptos Display" panose="020B0004020202020204" pitchFamily="34" charset="0"/>
              </a:rPr>
              <a:t>Tech Innovations to Support NGO Operations</a:t>
            </a:r>
            <a:endParaRPr lang="en-IN" b="1" dirty="0">
              <a:latin typeface="Aptos Display" panose="020B0004020202020204" pitchFamily="34" charset="0"/>
            </a:endParaRPr>
          </a:p>
        </p:txBody>
      </p:sp>
    </p:spTree>
    <p:extLst>
      <p:ext uri="{BB962C8B-B14F-4D97-AF65-F5344CB8AC3E}">
        <p14:creationId xmlns:p14="http://schemas.microsoft.com/office/powerpoint/2010/main" val="2574498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C530A-51EF-3805-8EE4-879D9C613D10}"/>
              </a:ext>
            </a:extLst>
          </p:cNvPr>
          <p:cNvSpPr>
            <a:spLocks noGrp="1"/>
          </p:cNvSpPr>
          <p:nvPr>
            <p:ph type="title"/>
          </p:nvPr>
        </p:nvSpPr>
        <p:spPr/>
        <p:txBody>
          <a:bodyPr/>
          <a:lstStyle/>
          <a:p>
            <a:r>
              <a:rPr lang="en-IN" dirty="0"/>
              <a:t>Contents</a:t>
            </a:r>
          </a:p>
        </p:txBody>
      </p:sp>
      <p:sp>
        <p:nvSpPr>
          <p:cNvPr id="3" name="Content Placeholder 2">
            <a:extLst>
              <a:ext uri="{FF2B5EF4-FFF2-40B4-BE49-F238E27FC236}">
                <a16:creationId xmlns:a16="http://schemas.microsoft.com/office/drawing/2014/main" id="{F090E4E9-E2CF-02E9-9CF8-DD6B4A6D6CCE}"/>
              </a:ext>
            </a:extLst>
          </p:cNvPr>
          <p:cNvSpPr>
            <a:spLocks noGrp="1"/>
          </p:cNvSpPr>
          <p:nvPr>
            <p:ph idx="1"/>
          </p:nvPr>
        </p:nvSpPr>
        <p:spPr/>
        <p:txBody>
          <a:bodyPr>
            <a:normAutofit fontScale="92500" lnSpcReduction="20000"/>
          </a:bodyPr>
          <a:lstStyle/>
          <a:p>
            <a:r>
              <a:rPr lang="en-IN" dirty="0"/>
              <a:t>Problem Statement</a:t>
            </a:r>
          </a:p>
          <a:p>
            <a:r>
              <a:rPr lang="en-IN" dirty="0"/>
              <a:t>Details of NGO visited (Name, Address, DARPAN ID)</a:t>
            </a:r>
          </a:p>
          <a:p>
            <a:r>
              <a:rPr lang="en-IN" dirty="0"/>
              <a:t>Thematic Area and its mapping to SDG</a:t>
            </a:r>
          </a:p>
          <a:p>
            <a:r>
              <a:rPr lang="en-IN" dirty="0"/>
              <a:t>Proposed Engineering Solution</a:t>
            </a:r>
          </a:p>
          <a:p>
            <a:r>
              <a:rPr lang="en-IN" dirty="0"/>
              <a:t>Non-profit alignment</a:t>
            </a:r>
          </a:p>
          <a:p>
            <a:r>
              <a:rPr lang="en-IN" dirty="0"/>
              <a:t>Proposed Milestones and Timelines</a:t>
            </a:r>
          </a:p>
          <a:p>
            <a:r>
              <a:rPr lang="en-IN" dirty="0"/>
              <a:t>Expected Deliverables (Prototypes, Reports, Designs, Viable Solutions)</a:t>
            </a:r>
          </a:p>
          <a:p>
            <a:r>
              <a:rPr lang="en-IN" dirty="0"/>
              <a:t>Plans to Assess the Impact</a:t>
            </a:r>
          </a:p>
          <a:p>
            <a:r>
              <a:rPr lang="en-IN" dirty="0"/>
              <a:t>Proposed Budget</a:t>
            </a:r>
          </a:p>
          <a:p>
            <a:r>
              <a:rPr lang="en-IN" dirty="0"/>
              <a:t>Conclusion</a:t>
            </a:r>
          </a:p>
          <a:p>
            <a:pPr marL="0" indent="0">
              <a:buNone/>
            </a:pPr>
            <a:endParaRPr lang="en-IN" dirty="0"/>
          </a:p>
        </p:txBody>
      </p:sp>
    </p:spTree>
    <p:extLst>
      <p:ext uri="{BB962C8B-B14F-4D97-AF65-F5344CB8AC3E}">
        <p14:creationId xmlns:p14="http://schemas.microsoft.com/office/powerpoint/2010/main" val="2054152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8CEE4-D4A9-8EAC-8F03-59D9B622A36E}"/>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D9B5A64B-FF2A-421C-2C67-594098B3FD5A}"/>
              </a:ext>
            </a:extLst>
          </p:cNvPr>
          <p:cNvSpPr>
            <a:spLocks noGrp="1"/>
          </p:cNvSpPr>
          <p:nvPr>
            <p:ph idx="1"/>
          </p:nvPr>
        </p:nvSpPr>
        <p:spPr/>
        <p:txBody>
          <a:bodyPr>
            <a:normAutofit fontScale="85000" lnSpcReduction="20000"/>
          </a:bodyPr>
          <a:lstStyle/>
          <a:p>
            <a:r>
              <a:rPr lang="en-US" dirty="0"/>
              <a:t>The NGO staff struggled with spending hours manually entering payment info, which was slow and full of mistakes—we built a billing app that does this automatically to save time and reduce errors.</a:t>
            </a:r>
          </a:p>
          <a:p>
            <a:r>
              <a:rPr lang="en-US" dirty="0"/>
              <a:t>People didn’t have an easy way to understand or share the NGO’s mission, so we created a clear, inspiring website about their work for a healthier, chemical-free future.</a:t>
            </a:r>
          </a:p>
          <a:p>
            <a:r>
              <a:rPr lang="en-US" dirty="0"/>
              <a:t>The NGO wanted more people across the country to join their cause, so we made a second website to encourage and connect communities nationwide.</a:t>
            </a:r>
          </a:p>
          <a:p>
            <a:r>
              <a:rPr lang="en-US" dirty="0"/>
              <a:t>Because payment records were scattered and hard to access, we organized everything into one place so the whole team can easily find what they need.</a:t>
            </a:r>
          </a:p>
          <a:p>
            <a:r>
              <a:rPr lang="en-US" dirty="0"/>
              <a:t>Tracking payments in the field was difficult and confusing—we solved this by making sure every payment photo is saved with its location and neatly organized for quick reference.</a:t>
            </a:r>
          </a:p>
        </p:txBody>
      </p:sp>
    </p:spTree>
    <p:extLst>
      <p:ext uri="{BB962C8B-B14F-4D97-AF65-F5344CB8AC3E}">
        <p14:creationId xmlns:p14="http://schemas.microsoft.com/office/powerpoint/2010/main" val="1787607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22020-5B18-BE7E-E308-F79CDBC0F0F3}"/>
              </a:ext>
            </a:extLst>
          </p:cNvPr>
          <p:cNvSpPr>
            <a:spLocks noGrp="1"/>
          </p:cNvSpPr>
          <p:nvPr>
            <p:ph type="title"/>
          </p:nvPr>
        </p:nvSpPr>
        <p:spPr/>
        <p:txBody>
          <a:bodyPr/>
          <a:lstStyle/>
          <a:p>
            <a:r>
              <a:rPr lang="en-IN" dirty="0"/>
              <a:t>Details of the NGO</a:t>
            </a:r>
          </a:p>
        </p:txBody>
      </p:sp>
      <p:sp>
        <p:nvSpPr>
          <p:cNvPr id="3" name="Content Placeholder 2">
            <a:extLst>
              <a:ext uri="{FF2B5EF4-FFF2-40B4-BE49-F238E27FC236}">
                <a16:creationId xmlns:a16="http://schemas.microsoft.com/office/drawing/2014/main" id="{EB398409-F30D-8A06-1C37-E0C874E33F85}"/>
              </a:ext>
            </a:extLst>
          </p:cNvPr>
          <p:cNvSpPr>
            <a:spLocks noGrp="1"/>
          </p:cNvSpPr>
          <p:nvPr>
            <p:ph idx="1"/>
          </p:nvPr>
        </p:nvSpPr>
        <p:spPr/>
        <p:txBody>
          <a:bodyPr/>
          <a:lstStyle/>
          <a:p>
            <a:r>
              <a:rPr lang="en-US" b="1" dirty="0"/>
              <a:t>Organization details:</a:t>
            </a:r>
          </a:p>
          <a:p>
            <a:pPr lvl="1"/>
            <a:r>
              <a:rPr lang="en-US" b="1" dirty="0"/>
              <a:t>Name of the Organization: </a:t>
            </a:r>
            <a:r>
              <a:rPr lang="en-US" dirty="0"/>
              <a:t>Watershed Support Services and Activities Network (WASSAN)</a:t>
            </a:r>
            <a:endParaRPr lang="en-IN" dirty="0"/>
          </a:p>
          <a:p>
            <a:pPr lvl="1"/>
            <a:r>
              <a:rPr lang="nn-NO" b="1" dirty="0"/>
              <a:t>DARPAN ID: </a:t>
            </a:r>
            <a:r>
              <a:rPr lang="nn-NO" dirty="0"/>
              <a:t>AP/2016/0107413, Reg No: 143/118/IV/2021</a:t>
            </a:r>
            <a:endParaRPr lang="en-IN" dirty="0"/>
          </a:p>
          <a:p>
            <a:pPr lvl="1"/>
            <a:r>
              <a:rPr lang="en-IN" b="1" dirty="0"/>
              <a:t>Website of the NGO: </a:t>
            </a:r>
            <a:r>
              <a:rPr lang="en-IN" dirty="0">
                <a:hlinkClick r:id="rId2"/>
              </a:rPr>
              <a:t>https://www.wassan.org</a:t>
            </a:r>
            <a:endParaRPr lang="en-IN" dirty="0"/>
          </a:p>
          <a:p>
            <a:pPr lvl="1"/>
            <a:endParaRPr lang="en-IN" dirty="0"/>
          </a:p>
          <a:p>
            <a:pPr lvl="0"/>
            <a:r>
              <a:rPr lang="en-US" b="1" dirty="0"/>
              <a:t>Contact Details:</a:t>
            </a:r>
            <a:endParaRPr lang="en-IN" dirty="0"/>
          </a:p>
          <a:p>
            <a:pPr lvl="1"/>
            <a:r>
              <a:rPr lang="en-IN" b="1" dirty="0"/>
              <a:t>Name: </a:t>
            </a:r>
            <a:r>
              <a:rPr lang="en-US" dirty="0"/>
              <a:t>MV Ramachandrudu </a:t>
            </a:r>
          </a:p>
          <a:p>
            <a:pPr lvl="1"/>
            <a:r>
              <a:rPr lang="en-US" b="1" dirty="0"/>
              <a:t>Email ID: </a:t>
            </a:r>
            <a:r>
              <a:rPr lang="en-US" dirty="0"/>
              <a:t>wassanmail@gmail.com</a:t>
            </a:r>
            <a:endParaRPr lang="en-IN" dirty="0"/>
          </a:p>
        </p:txBody>
      </p:sp>
    </p:spTree>
    <p:extLst>
      <p:ext uri="{BB962C8B-B14F-4D97-AF65-F5344CB8AC3E}">
        <p14:creationId xmlns:p14="http://schemas.microsoft.com/office/powerpoint/2010/main" val="3811381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5F418-FA77-AA90-B381-C84B64D97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C702E-767F-F2B8-7164-A517B7C00590}"/>
              </a:ext>
            </a:extLst>
          </p:cNvPr>
          <p:cNvSpPr>
            <a:spLocks noGrp="1"/>
          </p:cNvSpPr>
          <p:nvPr>
            <p:ph type="title"/>
          </p:nvPr>
        </p:nvSpPr>
        <p:spPr>
          <a:xfrm>
            <a:off x="155863" y="365125"/>
            <a:ext cx="4168546" cy="1325563"/>
          </a:xfrm>
        </p:spPr>
        <p:txBody>
          <a:bodyPr>
            <a:normAutofit/>
          </a:bodyPr>
          <a:lstStyle/>
          <a:p>
            <a:r>
              <a:rPr lang="en-IN" sz="4000" dirty="0"/>
              <a:t>Details of the NGO</a:t>
            </a:r>
          </a:p>
        </p:txBody>
      </p:sp>
      <p:pic>
        <p:nvPicPr>
          <p:cNvPr id="7" name="Content Placeholder 6" descr="A screenshot of a document&#10;&#10;AI-generated content may be incorrect.">
            <a:extLst>
              <a:ext uri="{FF2B5EF4-FFF2-40B4-BE49-F238E27FC236}">
                <a16:creationId xmlns:a16="http://schemas.microsoft.com/office/drawing/2014/main" id="{10152419-D531-442E-8308-132D838F7D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24409" y="0"/>
            <a:ext cx="6222364" cy="6858000"/>
          </a:xfrm>
        </p:spPr>
      </p:pic>
    </p:spTree>
    <p:extLst>
      <p:ext uri="{BB962C8B-B14F-4D97-AF65-F5344CB8AC3E}">
        <p14:creationId xmlns:p14="http://schemas.microsoft.com/office/powerpoint/2010/main" val="2252722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CE538-5C55-A0DF-82CF-929771C290FE}"/>
              </a:ext>
            </a:extLst>
          </p:cNvPr>
          <p:cNvSpPr>
            <a:spLocks noGrp="1"/>
          </p:cNvSpPr>
          <p:nvPr>
            <p:ph type="title"/>
          </p:nvPr>
        </p:nvSpPr>
        <p:spPr/>
        <p:txBody>
          <a:bodyPr/>
          <a:lstStyle/>
          <a:p>
            <a:r>
              <a:rPr lang="en-IN" dirty="0"/>
              <a:t>Thematic Area</a:t>
            </a:r>
          </a:p>
        </p:txBody>
      </p:sp>
      <p:sp>
        <p:nvSpPr>
          <p:cNvPr id="3" name="Content Placeholder 2">
            <a:extLst>
              <a:ext uri="{FF2B5EF4-FFF2-40B4-BE49-F238E27FC236}">
                <a16:creationId xmlns:a16="http://schemas.microsoft.com/office/drawing/2014/main" id="{CF8A0AC5-E5D4-9674-0485-6D3BB8A4ADDD}"/>
              </a:ext>
            </a:extLst>
          </p:cNvPr>
          <p:cNvSpPr>
            <a:spLocks noGrp="1"/>
          </p:cNvSpPr>
          <p:nvPr>
            <p:ph idx="1"/>
          </p:nvPr>
        </p:nvSpPr>
        <p:spPr>
          <a:xfrm>
            <a:off x="710380" y="1690688"/>
            <a:ext cx="10515600" cy="4614505"/>
          </a:xfrm>
        </p:spPr>
        <p:txBody>
          <a:bodyPr>
            <a:normAutofit fontScale="55000" lnSpcReduction="20000"/>
          </a:bodyPr>
          <a:lstStyle/>
          <a:p>
            <a:pPr marL="0" indent="0">
              <a:buNone/>
            </a:pPr>
            <a:r>
              <a:rPr lang="en-US" b="1" dirty="0"/>
              <a:t>Technology for Social Impact / Digital Solutions for NGO Development</a:t>
            </a:r>
          </a:p>
          <a:p>
            <a:pPr marL="0" indent="0">
              <a:buNone/>
            </a:pPr>
            <a:endParaRPr lang="en-US" dirty="0"/>
          </a:p>
          <a:p>
            <a:pPr marL="0" indent="0">
              <a:buNone/>
            </a:pPr>
            <a:r>
              <a:rPr lang="en-US" dirty="0"/>
              <a:t>Alignment with SDGs :</a:t>
            </a:r>
          </a:p>
          <a:p>
            <a:pPr lvl="1"/>
            <a:r>
              <a:rPr lang="en-US" sz="2900" dirty="0"/>
              <a:t>Relevant Sustainable Development Goals (SDGs):</a:t>
            </a:r>
          </a:p>
          <a:p>
            <a:pPr lvl="1"/>
            <a:r>
              <a:rPr lang="en-US" sz="2900" dirty="0"/>
              <a:t>SDG 9: Industry, Innovation, and Infrastructure</a:t>
            </a:r>
            <a:br>
              <a:rPr lang="en-US" sz="2900" dirty="0"/>
            </a:br>
            <a:r>
              <a:rPr lang="en-US" sz="2900" dirty="0"/>
              <a:t>Promoting inclusive and sustainable industrialization through digital tools and innovation.</a:t>
            </a:r>
          </a:p>
          <a:p>
            <a:pPr lvl="1"/>
            <a:r>
              <a:rPr lang="en-US" sz="2900" dirty="0"/>
              <a:t>SDG 11: Sustainable Cities and Communities</a:t>
            </a:r>
            <a:br>
              <a:rPr lang="en-US" sz="2900" dirty="0"/>
            </a:br>
            <a:r>
              <a:rPr lang="en-US" sz="2900" dirty="0"/>
              <a:t>Supporting community engagement and sustainable development through websites promoting environmental consciousness and participation.</a:t>
            </a:r>
          </a:p>
          <a:p>
            <a:pPr lvl="1"/>
            <a:r>
              <a:rPr lang="en-US" sz="2900" dirty="0"/>
              <a:t>SDG 17: Partnerships for the Goals</a:t>
            </a:r>
            <a:br>
              <a:rPr lang="en-US" sz="2900" dirty="0"/>
            </a:br>
            <a:r>
              <a:rPr lang="en-US" sz="2900" dirty="0"/>
              <a:t>Enhancing collaboration and data sharing within NGO teams and stakeholders via centralized, accessible digital platforms.</a:t>
            </a:r>
          </a:p>
          <a:p>
            <a:pPr marL="457200" lvl="1" indent="0">
              <a:buNone/>
            </a:pPr>
            <a:endParaRPr lang="en-US" dirty="0"/>
          </a:p>
          <a:p>
            <a:pPr marL="0" indent="0">
              <a:lnSpc>
                <a:spcPct val="120000"/>
              </a:lnSpc>
              <a:buNone/>
            </a:pPr>
            <a:r>
              <a:rPr lang="en-US" b="1" dirty="0"/>
              <a:t>Justification:</a:t>
            </a:r>
            <a:br>
              <a:rPr lang="en-US" dirty="0"/>
            </a:br>
            <a:r>
              <a:rPr lang="en-US" dirty="0"/>
              <a:t>The NGO struggled with slow and error-prone payment tracking, which we solved by developing an app to automate the process. We also built two websites—one to promote sustainable, chemical-free living and the organization’s mission, and another to encourage and connect community participation nationwide. By organizing payment records for easy access and enabling better tracking with location-tagged photos, these solutions made the NGO’s operations more efficient, transparent, and connected.</a:t>
            </a:r>
          </a:p>
        </p:txBody>
      </p:sp>
    </p:spTree>
    <p:extLst>
      <p:ext uri="{BB962C8B-B14F-4D97-AF65-F5344CB8AC3E}">
        <p14:creationId xmlns:p14="http://schemas.microsoft.com/office/powerpoint/2010/main" val="1347200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FF75E-110D-DEEA-7AAF-5F89075FDCAD}"/>
              </a:ext>
            </a:extLst>
          </p:cNvPr>
          <p:cNvSpPr>
            <a:spLocks noGrp="1"/>
          </p:cNvSpPr>
          <p:nvPr>
            <p:ph type="title"/>
          </p:nvPr>
        </p:nvSpPr>
        <p:spPr/>
        <p:txBody>
          <a:bodyPr/>
          <a:lstStyle/>
          <a:p>
            <a:r>
              <a:rPr lang="en-IN" dirty="0"/>
              <a:t>Proposed Engineering Solution</a:t>
            </a:r>
          </a:p>
        </p:txBody>
      </p:sp>
      <p:sp>
        <p:nvSpPr>
          <p:cNvPr id="3" name="Content Placeholder 2">
            <a:extLst>
              <a:ext uri="{FF2B5EF4-FFF2-40B4-BE49-F238E27FC236}">
                <a16:creationId xmlns:a16="http://schemas.microsoft.com/office/drawing/2014/main" id="{3C50E09F-AC29-A2CC-A99B-3D063D1F69F8}"/>
              </a:ext>
            </a:extLst>
          </p:cNvPr>
          <p:cNvSpPr>
            <a:spLocks noGrp="1"/>
          </p:cNvSpPr>
          <p:nvPr>
            <p:ph idx="1"/>
          </p:nvPr>
        </p:nvSpPr>
        <p:spPr/>
        <p:txBody>
          <a:bodyPr>
            <a:normAutofit fontScale="62500" lnSpcReduction="20000"/>
          </a:bodyPr>
          <a:lstStyle/>
          <a:p>
            <a:pPr marL="0" indent="0">
              <a:buNone/>
            </a:pPr>
            <a:r>
              <a:rPr lang="en-US" dirty="0"/>
              <a:t>A low-cost, user-friendly digital system designed for adaptability and easy adoption by NGOs, focusing on automating financial tracking, expanding outreach, and centralizing records for operational efficiency.</a:t>
            </a:r>
          </a:p>
          <a:p>
            <a:pPr marL="0" indent="0">
              <a:buNone/>
            </a:pPr>
            <a:r>
              <a:rPr lang="en-US" dirty="0"/>
              <a:t>Technical Modules to be Implemented</a:t>
            </a:r>
          </a:p>
          <a:p>
            <a:r>
              <a:rPr lang="en-US" dirty="0"/>
              <a:t>Automated Billing &amp; Payment Capture Module</a:t>
            </a:r>
          </a:p>
          <a:p>
            <a:pPr lvl="1"/>
            <a:r>
              <a:rPr lang="en-US" dirty="0"/>
              <a:t>Allows users to upload payment screenshots.</a:t>
            </a:r>
          </a:p>
          <a:p>
            <a:pPr lvl="1"/>
            <a:r>
              <a:rPr lang="en-US" dirty="0"/>
              <a:t>Uses OCR (Optical Character Recognition) to extract payment amounts and dates automatically.</a:t>
            </a:r>
          </a:p>
          <a:p>
            <a:pPr lvl="1"/>
            <a:r>
              <a:rPr lang="en-US" dirty="0"/>
              <a:t>Data is updated in a central, shared Excel sheet and photos are organized for quick reference.</a:t>
            </a:r>
          </a:p>
          <a:p>
            <a:r>
              <a:rPr lang="en-US" dirty="0"/>
              <a:t>NGO Mission Website</a:t>
            </a:r>
          </a:p>
          <a:p>
            <a:pPr lvl="1"/>
            <a:r>
              <a:rPr lang="en-US" dirty="0"/>
              <a:t>Public-facing website to communicate the NGO’s mission of sustainable, chemical-free living and environmental awareness.</a:t>
            </a:r>
          </a:p>
          <a:p>
            <a:pPr lvl="1"/>
            <a:r>
              <a:rPr lang="en-US" dirty="0"/>
              <a:t>Includes informational content, impact stories, and resources to educate and engage the public.</a:t>
            </a:r>
          </a:p>
          <a:p>
            <a:r>
              <a:rPr lang="en-US" dirty="0"/>
              <a:t>Community Engagement Platform</a:t>
            </a:r>
          </a:p>
          <a:p>
            <a:pPr lvl="1"/>
            <a:r>
              <a:rPr lang="en-US" dirty="0"/>
              <a:t>Second website designed to encourage community involvement and participation in positive change nationwide.</a:t>
            </a:r>
          </a:p>
          <a:p>
            <a:pPr lvl="1"/>
            <a:r>
              <a:rPr lang="en-US" dirty="0"/>
              <a:t>Features sign-ups, event information, and sharing of local initiatives.</a:t>
            </a:r>
          </a:p>
          <a:p>
            <a:r>
              <a:rPr lang="en-US" dirty="0"/>
              <a:t>Centralized Records Management System</a:t>
            </a:r>
          </a:p>
          <a:p>
            <a:pPr lvl="1"/>
            <a:r>
              <a:rPr lang="en-US" dirty="0"/>
              <a:t>Combines all payment records, documents, and reports in a single accessible location for staff, management, and volunteers.</a:t>
            </a:r>
          </a:p>
          <a:p>
            <a:pPr lvl="1"/>
            <a:r>
              <a:rPr lang="en-US" dirty="0"/>
              <a:t>Supports access control and easy data retrieval.</a:t>
            </a:r>
          </a:p>
          <a:p>
            <a:endParaRPr lang="en-US" dirty="0"/>
          </a:p>
          <a:p>
            <a:endParaRPr lang="en-IN" dirty="0"/>
          </a:p>
        </p:txBody>
      </p:sp>
    </p:spTree>
    <p:extLst>
      <p:ext uri="{BB962C8B-B14F-4D97-AF65-F5344CB8AC3E}">
        <p14:creationId xmlns:p14="http://schemas.microsoft.com/office/powerpoint/2010/main" val="1394964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F9C32-A01A-FE33-B48A-2B7C7D094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B5DBF-E751-3F39-1141-DD65030AE44F}"/>
              </a:ext>
            </a:extLst>
          </p:cNvPr>
          <p:cNvSpPr>
            <a:spLocks noGrp="1"/>
          </p:cNvSpPr>
          <p:nvPr>
            <p:ph type="title"/>
          </p:nvPr>
        </p:nvSpPr>
        <p:spPr/>
        <p:txBody>
          <a:bodyPr/>
          <a:lstStyle/>
          <a:p>
            <a:r>
              <a:rPr lang="en-IN" dirty="0"/>
              <a:t>Proposed Engineering Solution</a:t>
            </a:r>
          </a:p>
        </p:txBody>
      </p:sp>
      <p:pic>
        <p:nvPicPr>
          <p:cNvPr id="5" name="Content Placeholder 4">
            <a:extLst>
              <a:ext uri="{FF2B5EF4-FFF2-40B4-BE49-F238E27FC236}">
                <a16:creationId xmlns:a16="http://schemas.microsoft.com/office/drawing/2014/main" id="{8AE1216C-7F9D-3DC5-4399-B942CCA3B1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2304" y="1569053"/>
            <a:ext cx="7534655" cy="5288947"/>
          </a:xfrm>
        </p:spPr>
      </p:pic>
      <p:sp>
        <p:nvSpPr>
          <p:cNvPr id="7" name="TextBox 6">
            <a:extLst>
              <a:ext uri="{FF2B5EF4-FFF2-40B4-BE49-F238E27FC236}">
                <a16:creationId xmlns:a16="http://schemas.microsoft.com/office/drawing/2014/main" id="{D8AD6D4E-B2DF-D416-197D-7C22E9FB28B4}"/>
              </a:ext>
            </a:extLst>
          </p:cNvPr>
          <p:cNvSpPr txBox="1"/>
          <p:nvPr/>
        </p:nvSpPr>
        <p:spPr>
          <a:xfrm>
            <a:off x="466344" y="2020824"/>
            <a:ext cx="1499616" cy="369332"/>
          </a:xfrm>
          <a:prstGeom prst="rect">
            <a:avLst/>
          </a:prstGeom>
          <a:noFill/>
        </p:spPr>
        <p:txBody>
          <a:bodyPr wrap="square" rtlCol="0">
            <a:spAutoFit/>
          </a:bodyPr>
          <a:lstStyle/>
          <a:p>
            <a:r>
              <a:rPr lang="en-US" dirty="0"/>
              <a:t>FLOWCHART-</a:t>
            </a:r>
          </a:p>
        </p:txBody>
      </p:sp>
    </p:spTree>
    <p:extLst>
      <p:ext uri="{BB962C8B-B14F-4D97-AF65-F5344CB8AC3E}">
        <p14:creationId xmlns:p14="http://schemas.microsoft.com/office/powerpoint/2010/main" val="3326871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453F1-0BAD-D294-DC6C-394845604A3A}"/>
              </a:ext>
            </a:extLst>
          </p:cNvPr>
          <p:cNvSpPr>
            <a:spLocks noGrp="1"/>
          </p:cNvSpPr>
          <p:nvPr>
            <p:ph type="title"/>
          </p:nvPr>
        </p:nvSpPr>
        <p:spPr/>
        <p:txBody>
          <a:bodyPr/>
          <a:lstStyle/>
          <a:p>
            <a:r>
              <a:rPr lang="en-IN" dirty="0"/>
              <a:t>Non-Profit Alignment </a:t>
            </a:r>
          </a:p>
        </p:txBody>
      </p:sp>
      <p:sp>
        <p:nvSpPr>
          <p:cNvPr id="3" name="Content Placeholder 2">
            <a:extLst>
              <a:ext uri="{FF2B5EF4-FFF2-40B4-BE49-F238E27FC236}">
                <a16:creationId xmlns:a16="http://schemas.microsoft.com/office/drawing/2014/main" id="{EEBE2491-4830-0359-7E95-5B1B41D0AC43}"/>
              </a:ext>
            </a:extLst>
          </p:cNvPr>
          <p:cNvSpPr>
            <a:spLocks noGrp="1"/>
          </p:cNvSpPr>
          <p:nvPr>
            <p:ph idx="1"/>
          </p:nvPr>
        </p:nvSpPr>
        <p:spPr>
          <a:xfrm>
            <a:off x="329184" y="1690688"/>
            <a:ext cx="11576304" cy="5103304"/>
          </a:xfrm>
        </p:spPr>
        <p:txBody>
          <a:bodyPr>
            <a:normAutofit fontScale="70000" lnSpcReduction="20000"/>
          </a:bodyPr>
          <a:lstStyle/>
          <a:p>
            <a:pPr marL="0" indent="0">
              <a:lnSpc>
                <a:spcPct val="120000"/>
              </a:lnSpc>
              <a:buNone/>
            </a:pPr>
            <a:r>
              <a:rPr lang="en-IN" sz="2100" b="1" dirty="0"/>
              <a:t>Needs of the Non-Profit Organization (NGO)</a:t>
            </a:r>
          </a:p>
          <a:p>
            <a:pPr marL="0" indent="0">
              <a:lnSpc>
                <a:spcPct val="120000"/>
              </a:lnSpc>
              <a:buNone/>
            </a:pPr>
            <a:r>
              <a:rPr lang="en-US" sz="1900" dirty="0"/>
              <a:t>The proposed digital solutions are closely aligned with the NGO’s mission of fostering sustainable communities and expanding participation in environmental and social initiatives.</a:t>
            </a:r>
          </a:p>
          <a:p>
            <a:pPr marL="0" indent="0">
              <a:buNone/>
            </a:pPr>
            <a:r>
              <a:rPr lang="en-US" sz="2600" b="1" dirty="0"/>
              <a:t>Identified Needs:</a:t>
            </a:r>
          </a:p>
          <a:p>
            <a:pPr lvl="1"/>
            <a:r>
              <a:rPr lang="en-US" sz="2000" dirty="0"/>
              <a:t>Time-consuming and error-prone manual payment tracking and documentation.</a:t>
            </a:r>
          </a:p>
          <a:p>
            <a:pPr lvl="1"/>
            <a:r>
              <a:rPr lang="en-US" sz="2000" dirty="0"/>
              <a:t>Limited digital presence to communicate the NGO’s mission and efforts.</a:t>
            </a:r>
          </a:p>
          <a:p>
            <a:pPr lvl="1"/>
            <a:r>
              <a:rPr lang="en-US" sz="2000" dirty="0"/>
              <a:t>Difficulty engaging and connecting with a wider community nationwide.</a:t>
            </a:r>
          </a:p>
          <a:p>
            <a:pPr lvl="1"/>
            <a:r>
              <a:rPr lang="en-US" sz="2000" dirty="0"/>
              <a:t>Scattered and inaccessible payment records, making field and audit work inefficient.</a:t>
            </a:r>
          </a:p>
          <a:p>
            <a:pPr marL="0" indent="0">
              <a:lnSpc>
                <a:spcPct val="120000"/>
              </a:lnSpc>
              <a:buNone/>
            </a:pPr>
            <a:r>
              <a:rPr lang="en-IN" sz="2600" b="1" dirty="0"/>
              <a:t>What is the relationship with community work and the NGO and Stage of the relationship with the NGO (Initial Design/ Testing/ Deployment/ Impact assessment)</a:t>
            </a:r>
            <a:endParaRPr lang="en-US" sz="2600" b="1" dirty="0"/>
          </a:p>
          <a:p>
            <a:pPr marL="0" indent="0">
              <a:lnSpc>
                <a:spcPct val="120000"/>
              </a:lnSpc>
              <a:buNone/>
            </a:pPr>
            <a:r>
              <a:rPr lang="en-US" sz="2300" b="1" dirty="0"/>
              <a:t>Current Relationship Status:</a:t>
            </a:r>
            <a:endParaRPr lang="en-US" sz="2300" dirty="0"/>
          </a:p>
          <a:p>
            <a:pPr lvl="2">
              <a:lnSpc>
                <a:spcPct val="120000"/>
              </a:lnSpc>
            </a:pPr>
            <a:r>
              <a:rPr lang="en-US" b="1" dirty="0"/>
              <a:t>Initial assessment: </a:t>
            </a:r>
            <a:r>
              <a:rPr lang="en-US" dirty="0"/>
              <a:t>Done.</a:t>
            </a:r>
          </a:p>
          <a:p>
            <a:pPr lvl="2">
              <a:lnSpc>
                <a:spcPct val="120000"/>
              </a:lnSpc>
            </a:pPr>
            <a:r>
              <a:rPr lang="en-US" b="1" dirty="0"/>
              <a:t>Prototype design: </a:t>
            </a:r>
            <a:r>
              <a:rPr lang="en-US" dirty="0"/>
              <a:t>Functional prototypes of the billing app and websites have been created and refined based on staff and volunteer input</a:t>
            </a:r>
            <a:r>
              <a:rPr lang="en-US" sz="1600" dirty="0"/>
              <a:t>.</a:t>
            </a:r>
          </a:p>
          <a:p>
            <a:pPr lvl="2">
              <a:lnSpc>
                <a:spcPct val="120000"/>
              </a:lnSpc>
            </a:pPr>
            <a:r>
              <a:rPr lang="en-US" b="1" dirty="0"/>
              <a:t>Deployment: </a:t>
            </a:r>
            <a:r>
              <a:rPr lang="en-US" dirty="0"/>
              <a:t>Deployment is planned at the NGO office and soon will be in reach to the staff and public</a:t>
            </a:r>
          </a:p>
          <a:p>
            <a:pPr marL="0" indent="0">
              <a:lnSpc>
                <a:spcPct val="120000"/>
              </a:lnSpc>
              <a:buNone/>
            </a:pPr>
            <a:r>
              <a:rPr lang="en-US" sz="2600" b="1" dirty="0"/>
              <a:t>Impact Assessment: </a:t>
            </a:r>
          </a:p>
          <a:p>
            <a:pPr marL="0" indent="0">
              <a:lnSpc>
                <a:spcPct val="120000"/>
              </a:lnSpc>
              <a:buNone/>
            </a:pPr>
            <a:r>
              <a:rPr lang="en-US" sz="2000" dirty="0"/>
              <a:t>Next stages will involve collecting feedback on time saved, error reduction, and increased engagement to measure the solutions’ effectiveness and guide further improvements.</a:t>
            </a:r>
          </a:p>
          <a:p>
            <a:pPr marL="0" indent="0">
              <a:lnSpc>
                <a:spcPct val="120000"/>
              </a:lnSpc>
              <a:buNone/>
            </a:pPr>
            <a:endParaRPr lang="en-IN" sz="2000" b="1" dirty="0"/>
          </a:p>
          <a:p>
            <a:pPr marL="0" indent="0">
              <a:buNone/>
            </a:pPr>
            <a:endParaRPr lang="en-IN" dirty="0"/>
          </a:p>
        </p:txBody>
      </p:sp>
    </p:spTree>
    <p:extLst>
      <p:ext uri="{BB962C8B-B14F-4D97-AF65-F5344CB8AC3E}">
        <p14:creationId xmlns:p14="http://schemas.microsoft.com/office/powerpoint/2010/main" val="2175144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9D630-B185-0421-DF96-E5F496627A13}"/>
              </a:ext>
            </a:extLst>
          </p:cNvPr>
          <p:cNvSpPr>
            <a:spLocks noGrp="1"/>
          </p:cNvSpPr>
          <p:nvPr>
            <p:ph type="title"/>
          </p:nvPr>
        </p:nvSpPr>
        <p:spPr/>
        <p:txBody>
          <a:bodyPr/>
          <a:lstStyle/>
          <a:p>
            <a:r>
              <a:rPr lang="en-IN" dirty="0"/>
              <a:t>Proposed Milestones and Timelines</a:t>
            </a:r>
          </a:p>
        </p:txBody>
      </p:sp>
      <p:pic>
        <p:nvPicPr>
          <p:cNvPr id="7" name="Content Placeholder 6" descr="A graph with different colored rectangles&#10;&#10;AI-generated content may be incorrect.">
            <a:extLst>
              <a:ext uri="{FF2B5EF4-FFF2-40B4-BE49-F238E27FC236}">
                <a16:creationId xmlns:a16="http://schemas.microsoft.com/office/drawing/2014/main" id="{3924E5D6-7635-8490-ED2F-46163697A1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99376" y="1602104"/>
            <a:ext cx="8404464" cy="5230443"/>
          </a:xfrm>
        </p:spPr>
      </p:pic>
    </p:spTree>
    <p:extLst>
      <p:ext uri="{BB962C8B-B14F-4D97-AF65-F5344CB8AC3E}">
        <p14:creationId xmlns:p14="http://schemas.microsoft.com/office/powerpoint/2010/main" val="2920439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FF75E-110D-DEEA-7AAF-5F89075FDCAD}"/>
              </a:ext>
            </a:extLst>
          </p:cNvPr>
          <p:cNvSpPr>
            <a:spLocks noGrp="1"/>
          </p:cNvSpPr>
          <p:nvPr>
            <p:ph type="title"/>
          </p:nvPr>
        </p:nvSpPr>
        <p:spPr/>
        <p:txBody>
          <a:bodyPr/>
          <a:lstStyle/>
          <a:p>
            <a:r>
              <a:rPr lang="en-IN" dirty="0"/>
              <a:t>Expected Deliverables</a:t>
            </a:r>
          </a:p>
        </p:txBody>
      </p:sp>
      <p:sp>
        <p:nvSpPr>
          <p:cNvPr id="3" name="Content Placeholder 2">
            <a:extLst>
              <a:ext uri="{FF2B5EF4-FFF2-40B4-BE49-F238E27FC236}">
                <a16:creationId xmlns:a16="http://schemas.microsoft.com/office/drawing/2014/main" id="{3C50E09F-AC29-A2CC-A99B-3D063D1F69F8}"/>
              </a:ext>
            </a:extLst>
          </p:cNvPr>
          <p:cNvSpPr>
            <a:spLocks noGrp="1"/>
          </p:cNvSpPr>
          <p:nvPr>
            <p:ph idx="1"/>
          </p:nvPr>
        </p:nvSpPr>
        <p:spPr/>
        <p:txBody>
          <a:bodyPr>
            <a:normAutofit fontScale="62500" lnSpcReduction="20000"/>
          </a:bodyPr>
          <a:lstStyle/>
          <a:p>
            <a:pPr marL="0" indent="0">
              <a:buNone/>
            </a:pPr>
            <a:r>
              <a:rPr lang="en-US" b="1" dirty="0"/>
              <a:t>Use of Multimedia Tools:</a:t>
            </a:r>
          </a:p>
          <a:p>
            <a:r>
              <a:rPr lang="en-US" dirty="0"/>
              <a:t>Designed infographics and visual summaries to explain the billing app process and website features.</a:t>
            </a:r>
          </a:p>
          <a:p>
            <a:r>
              <a:rPr lang="en-US" dirty="0"/>
              <a:t>Captured and integrated geo-tagged payment photos from field staff, demonstrating transparency and coverage.</a:t>
            </a:r>
          </a:p>
          <a:p>
            <a:r>
              <a:rPr lang="en-US" dirty="0"/>
              <a:t>Included documented user stories and testimonial quotes from NGO team members and volunteers about the impact of the new system.</a:t>
            </a:r>
          </a:p>
          <a:p>
            <a:pPr marL="0" indent="0">
              <a:buNone/>
            </a:pPr>
            <a:r>
              <a:rPr lang="en-US" b="1" dirty="0"/>
              <a:t>Technological Solution:</a:t>
            </a:r>
          </a:p>
          <a:p>
            <a:r>
              <a:rPr lang="en-US" dirty="0"/>
              <a:t>Developed an automated billing web application that extracts payment details from uploaded screenshots using OCR and centralizes records.</a:t>
            </a:r>
          </a:p>
          <a:p>
            <a:r>
              <a:rPr lang="en-US" dirty="0"/>
              <a:t>Built two websites: one promoting the NGO’s mission of sustainable, chemical-free living, and another to increase community engagement and participation.</a:t>
            </a:r>
          </a:p>
          <a:p>
            <a:r>
              <a:rPr lang="en-US" dirty="0"/>
              <a:t>Optimized all solutions for ease of use and minimal training, with simple interfaces accessible from various devices.</a:t>
            </a:r>
          </a:p>
          <a:p>
            <a:r>
              <a:rPr lang="en-US" dirty="0"/>
              <a:t>The system is scalable, cost-effective, securely stores data, and supports remote collaboration—making it practical and sustainable for NGO operations.</a:t>
            </a:r>
          </a:p>
          <a:p>
            <a:endParaRPr lang="en-IN" dirty="0"/>
          </a:p>
        </p:txBody>
      </p:sp>
    </p:spTree>
    <p:extLst>
      <p:ext uri="{BB962C8B-B14F-4D97-AF65-F5344CB8AC3E}">
        <p14:creationId xmlns:p14="http://schemas.microsoft.com/office/powerpoint/2010/main" val="417958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BDE1E-DBF0-2278-668D-C42E30CEE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5ED63-4BF5-7D60-CC26-9B08EBF02CB3}"/>
              </a:ext>
            </a:extLst>
          </p:cNvPr>
          <p:cNvSpPr>
            <a:spLocks noGrp="1"/>
          </p:cNvSpPr>
          <p:nvPr>
            <p:ph type="title"/>
          </p:nvPr>
        </p:nvSpPr>
        <p:spPr/>
        <p:txBody>
          <a:bodyPr/>
          <a:lstStyle/>
          <a:p>
            <a:r>
              <a:rPr lang="en-IN" dirty="0"/>
              <a:t>Expected Deliverables</a:t>
            </a:r>
          </a:p>
        </p:txBody>
      </p:sp>
      <p:pic>
        <p:nvPicPr>
          <p:cNvPr id="13" name="Content Placeholder 12" descr="A person using a computer&#10;&#10;AI-generated content may be incorrect.">
            <a:extLst>
              <a:ext uri="{FF2B5EF4-FFF2-40B4-BE49-F238E27FC236}">
                <a16:creationId xmlns:a16="http://schemas.microsoft.com/office/drawing/2014/main" id="{0C98F49C-44F5-AEF4-BB45-48C60C5BAF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77105" y="1300163"/>
            <a:ext cx="3982437" cy="2787015"/>
          </a:xfrm>
        </p:spPr>
      </p:pic>
      <p:pic>
        <p:nvPicPr>
          <p:cNvPr id="15" name="Picture 14" descr="A group of people sitting at a table with laptops&#10;&#10;AI-generated content may be incorrect.">
            <a:extLst>
              <a:ext uri="{FF2B5EF4-FFF2-40B4-BE49-F238E27FC236}">
                <a16:creationId xmlns:a16="http://schemas.microsoft.com/office/drawing/2014/main" id="{6E30CE38-C7F6-3BC4-E838-2A08638563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615" y="1315784"/>
            <a:ext cx="7444511" cy="4929568"/>
          </a:xfrm>
          <a:prstGeom prst="rect">
            <a:avLst/>
          </a:prstGeom>
        </p:spPr>
      </p:pic>
      <p:pic>
        <p:nvPicPr>
          <p:cNvPr id="17" name="Picture 16" descr="A group of people sitting at a table with laptops&#10;&#10;AI-generated content may be incorrect.">
            <a:extLst>
              <a:ext uri="{FF2B5EF4-FFF2-40B4-BE49-F238E27FC236}">
                <a16:creationId xmlns:a16="http://schemas.microsoft.com/office/drawing/2014/main" id="{291BE83A-68A0-1567-A0F5-9B0685F533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7105" y="4220930"/>
            <a:ext cx="3982438" cy="2637070"/>
          </a:xfrm>
          <a:prstGeom prst="rect">
            <a:avLst/>
          </a:prstGeom>
        </p:spPr>
      </p:pic>
    </p:spTree>
    <p:extLst>
      <p:ext uri="{BB962C8B-B14F-4D97-AF65-F5344CB8AC3E}">
        <p14:creationId xmlns:p14="http://schemas.microsoft.com/office/powerpoint/2010/main" val="636670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38FCA-D936-EDE6-0D26-5F4C45A69715}"/>
              </a:ext>
            </a:extLst>
          </p:cNvPr>
          <p:cNvSpPr>
            <a:spLocks noGrp="1"/>
          </p:cNvSpPr>
          <p:nvPr>
            <p:ph type="title"/>
          </p:nvPr>
        </p:nvSpPr>
        <p:spPr/>
        <p:txBody>
          <a:bodyPr/>
          <a:lstStyle/>
          <a:p>
            <a:r>
              <a:rPr lang="en-IN" dirty="0"/>
              <a:t>Expected plan to Assess the Impact</a:t>
            </a:r>
          </a:p>
        </p:txBody>
      </p:sp>
      <p:sp>
        <p:nvSpPr>
          <p:cNvPr id="3" name="Content Placeholder 2">
            <a:extLst>
              <a:ext uri="{FF2B5EF4-FFF2-40B4-BE49-F238E27FC236}">
                <a16:creationId xmlns:a16="http://schemas.microsoft.com/office/drawing/2014/main" id="{2ABBBEF5-5B48-59FC-9EB7-7F64340DC18E}"/>
              </a:ext>
            </a:extLst>
          </p:cNvPr>
          <p:cNvSpPr>
            <a:spLocks noGrp="1"/>
          </p:cNvSpPr>
          <p:nvPr>
            <p:ph idx="1"/>
          </p:nvPr>
        </p:nvSpPr>
        <p:spPr>
          <a:xfrm>
            <a:off x="838200" y="1493520"/>
            <a:ext cx="10515600" cy="4683443"/>
          </a:xfrm>
        </p:spPr>
        <p:txBody>
          <a:bodyPr>
            <a:normAutofit fontScale="70000" lnSpcReduction="20000"/>
          </a:bodyPr>
          <a:lstStyle/>
          <a:p>
            <a:pPr marL="0" indent="0">
              <a:buNone/>
            </a:pPr>
            <a:r>
              <a:rPr lang="en-US" b="1" dirty="0"/>
              <a:t>Plan to Monitor the Solution’s Impact Over Time:</a:t>
            </a:r>
          </a:p>
          <a:p>
            <a:r>
              <a:rPr lang="en-US" dirty="0"/>
              <a:t>Track system usage data: Monitor how often the billing app is used, the number of payment entries automated, and the frequency of data accessed by staff and volunteers.</a:t>
            </a:r>
          </a:p>
          <a:p>
            <a:r>
              <a:rPr lang="en-US" dirty="0"/>
              <a:t>Collect user feedback: Hold regular feedback sessions with NGO staff, volunteers, and finance team members to gather input on usability, time savings, and workflow improvements.</a:t>
            </a:r>
          </a:p>
          <a:p>
            <a:r>
              <a:rPr lang="en-US" dirty="0"/>
              <a:t>Maintain observation logs: Note improvements in payment record accuracy, time saved on manual entry, and the ease of sharing information among team members.</a:t>
            </a:r>
          </a:p>
          <a:p>
            <a:pPr marL="0" indent="0">
              <a:buNone/>
            </a:pPr>
            <a:endParaRPr lang="en-US" dirty="0"/>
          </a:p>
          <a:p>
            <a:pPr marL="0" indent="0">
              <a:buNone/>
            </a:pPr>
            <a:r>
              <a:rPr lang="en-US" b="1" dirty="0"/>
              <a:t>Designing the Control Group:</a:t>
            </a:r>
          </a:p>
          <a:p>
            <a:r>
              <a:rPr lang="en-US" b="1" dirty="0"/>
              <a:t>Intervention Group</a:t>
            </a:r>
            <a:r>
              <a:rPr lang="en-US" dirty="0"/>
              <a:t>: NGO staff and volunteers using the new billing app and websites for payment management and outreach.</a:t>
            </a:r>
          </a:p>
          <a:p>
            <a:r>
              <a:rPr lang="en-US" b="1" dirty="0"/>
              <a:t>Control Group</a:t>
            </a:r>
            <a:r>
              <a:rPr lang="en-US" dirty="0"/>
              <a:t>: A similar NGO team or branch that continues with manual payment tracking and has not adopted the new digital tools.</a:t>
            </a:r>
          </a:p>
          <a:p>
            <a:r>
              <a:rPr lang="en-US" b="1" dirty="0"/>
              <a:t>Impact Metrics</a:t>
            </a:r>
            <a:r>
              <a:rPr lang="en-US" dirty="0"/>
              <a:t>: Compare data entry speed, record accuracy, staff satisfaction, public engagement through the websites, and the number of new community sign-ups.</a:t>
            </a:r>
          </a:p>
        </p:txBody>
      </p:sp>
    </p:spTree>
    <p:extLst>
      <p:ext uri="{BB962C8B-B14F-4D97-AF65-F5344CB8AC3E}">
        <p14:creationId xmlns:p14="http://schemas.microsoft.com/office/powerpoint/2010/main" val="4035528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5C85A-9BE3-9CC9-AA3D-20F30173C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0D4F3-D1F6-1998-E805-A390ABCDE295}"/>
              </a:ext>
            </a:extLst>
          </p:cNvPr>
          <p:cNvSpPr>
            <a:spLocks noGrp="1"/>
          </p:cNvSpPr>
          <p:nvPr>
            <p:ph type="title"/>
          </p:nvPr>
        </p:nvSpPr>
        <p:spPr/>
        <p:txBody>
          <a:bodyPr/>
          <a:lstStyle/>
          <a:p>
            <a:r>
              <a:rPr lang="en-IN" dirty="0"/>
              <a:t>Expected plan to Assess the Impact</a:t>
            </a:r>
          </a:p>
        </p:txBody>
      </p:sp>
      <p:sp>
        <p:nvSpPr>
          <p:cNvPr id="3" name="Content Placeholder 2">
            <a:extLst>
              <a:ext uri="{FF2B5EF4-FFF2-40B4-BE49-F238E27FC236}">
                <a16:creationId xmlns:a16="http://schemas.microsoft.com/office/drawing/2014/main" id="{365DA831-F468-61C4-3AA3-8E1F2F2412DC}"/>
              </a:ext>
            </a:extLst>
          </p:cNvPr>
          <p:cNvSpPr>
            <a:spLocks noGrp="1"/>
          </p:cNvSpPr>
          <p:nvPr>
            <p:ph idx="1"/>
          </p:nvPr>
        </p:nvSpPr>
        <p:spPr>
          <a:xfrm>
            <a:off x="838200" y="1493520"/>
            <a:ext cx="10515600" cy="5273040"/>
          </a:xfrm>
        </p:spPr>
        <p:txBody>
          <a:bodyPr>
            <a:normAutofit fontScale="70000" lnSpcReduction="20000"/>
          </a:bodyPr>
          <a:lstStyle/>
          <a:p>
            <a:pPr marL="0" indent="0">
              <a:buNone/>
            </a:pPr>
            <a:r>
              <a:rPr lang="en-US" b="1" dirty="0"/>
              <a:t>Short-Term / Immediate Impact (Within 1 Year):</a:t>
            </a:r>
          </a:p>
          <a:p>
            <a:r>
              <a:rPr lang="en-US" dirty="0"/>
              <a:t>More than 12 team members report faster, more accurate payment processing and easier record-keeping.</a:t>
            </a:r>
          </a:p>
          <a:p>
            <a:r>
              <a:rPr lang="en-US" dirty="0"/>
              <a:t>Scattered records consolidated for easy access, reducing time spent on paperwork.</a:t>
            </a:r>
          </a:p>
          <a:p>
            <a:r>
              <a:rPr lang="en-US" dirty="0"/>
              <a:t>Increased website traffic and interaction, helping to raise awareness for the NGO’s mission and boost community engagement.</a:t>
            </a:r>
          </a:p>
          <a:p>
            <a:r>
              <a:rPr lang="en-US" dirty="0"/>
              <a:t>Staff and volunteer feedback show less stress from repetitive tasks and more time freed for core outreach work.</a:t>
            </a:r>
          </a:p>
          <a:p>
            <a:endParaRPr lang="en-IN" dirty="0"/>
          </a:p>
          <a:p>
            <a:pPr marL="0" indent="0">
              <a:buNone/>
            </a:pPr>
            <a:r>
              <a:rPr lang="en-US" b="1" dirty="0"/>
              <a:t>Long-Term Impact (Within 3 Years)</a:t>
            </a:r>
          </a:p>
          <a:p>
            <a:r>
              <a:rPr lang="en-US" dirty="0"/>
              <a:t>System expanded to other branches or partner NGOs, improving workflow for dozens more teams.</a:t>
            </a:r>
          </a:p>
          <a:p>
            <a:r>
              <a:rPr lang="en-US" dirty="0"/>
              <a:t>Over 200 payment transactions processed automatically, with error rates drastically reduced.</a:t>
            </a:r>
          </a:p>
          <a:p>
            <a:r>
              <a:rPr lang="en-US" dirty="0"/>
              <a:t>Greater online engagement with more people joining or supporting the NGO via the websites.</a:t>
            </a:r>
          </a:p>
          <a:p>
            <a:r>
              <a:rPr lang="en-US" dirty="0"/>
              <a:t>Model replicable for other NGOs seeking digital transformation, enhancing transparency and efficiency in the sector.</a:t>
            </a:r>
            <a:endParaRPr lang="en-US" sz="3200" dirty="0"/>
          </a:p>
        </p:txBody>
      </p:sp>
    </p:spTree>
    <p:extLst>
      <p:ext uri="{BB962C8B-B14F-4D97-AF65-F5344CB8AC3E}">
        <p14:creationId xmlns:p14="http://schemas.microsoft.com/office/powerpoint/2010/main" val="1042068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00D6-1C8B-DFB1-7FA3-CACCFE668CE0}"/>
              </a:ext>
            </a:extLst>
          </p:cNvPr>
          <p:cNvSpPr>
            <a:spLocks noGrp="1"/>
          </p:cNvSpPr>
          <p:nvPr>
            <p:ph type="title"/>
          </p:nvPr>
        </p:nvSpPr>
        <p:spPr/>
        <p:txBody>
          <a:bodyPr/>
          <a:lstStyle/>
          <a:p>
            <a:r>
              <a:rPr lang="en-IN" dirty="0"/>
              <a:t>Proposed Budget</a:t>
            </a:r>
          </a:p>
        </p:txBody>
      </p:sp>
      <p:graphicFrame>
        <p:nvGraphicFramePr>
          <p:cNvPr id="4" name="Content Placeholder 3">
            <a:extLst>
              <a:ext uri="{FF2B5EF4-FFF2-40B4-BE49-F238E27FC236}">
                <a16:creationId xmlns:a16="http://schemas.microsoft.com/office/drawing/2014/main" id="{40EA4242-95D0-53C0-7882-7B90AC75C331}"/>
              </a:ext>
            </a:extLst>
          </p:cNvPr>
          <p:cNvGraphicFramePr>
            <a:graphicFrameLocks noGrp="1"/>
          </p:cNvGraphicFramePr>
          <p:nvPr>
            <p:ph idx="1"/>
            <p:extLst>
              <p:ext uri="{D42A27DB-BD31-4B8C-83A1-F6EECF244321}">
                <p14:modId xmlns:p14="http://schemas.microsoft.com/office/powerpoint/2010/main" val="2420906887"/>
              </p:ext>
            </p:extLst>
          </p:nvPr>
        </p:nvGraphicFramePr>
        <p:xfrm>
          <a:off x="838200" y="1690689"/>
          <a:ext cx="10241279" cy="5063404"/>
        </p:xfrm>
        <a:graphic>
          <a:graphicData uri="http://schemas.openxmlformats.org/drawingml/2006/table">
            <a:tbl>
              <a:tblPr firstRow="1" firstCol="1" bandRow="1">
                <a:tableStyleId>{2D5ABB26-0587-4C30-8999-92F81FD0307C}</a:tableStyleId>
              </a:tblPr>
              <a:tblGrid>
                <a:gridCol w="802163">
                  <a:extLst>
                    <a:ext uri="{9D8B030D-6E8A-4147-A177-3AD203B41FA5}">
                      <a16:colId xmlns:a16="http://schemas.microsoft.com/office/drawing/2014/main" val="34435904"/>
                    </a:ext>
                  </a:extLst>
                </a:gridCol>
                <a:gridCol w="2486207">
                  <a:extLst>
                    <a:ext uri="{9D8B030D-6E8A-4147-A177-3AD203B41FA5}">
                      <a16:colId xmlns:a16="http://schemas.microsoft.com/office/drawing/2014/main" val="4294422394"/>
                    </a:ext>
                  </a:extLst>
                </a:gridCol>
                <a:gridCol w="1265524">
                  <a:extLst>
                    <a:ext uri="{9D8B030D-6E8A-4147-A177-3AD203B41FA5}">
                      <a16:colId xmlns:a16="http://schemas.microsoft.com/office/drawing/2014/main" val="3732277491"/>
                    </a:ext>
                  </a:extLst>
                </a:gridCol>
                <a:gridCol w="984019">
                  <a:extLst>
                    <a:ext uri="{9D8B030D-6E8A-4147-A177-3AD203B41FA5}">
                      <a16:colId xmlns:a16="http://schemas.microsoft.com/office/drawing/2014/main" val="326924076"/>
                    </a:ext>
                  </a:extLst>
                </a:gridCol>
                <a:gridCol w="4703366">
                  <a:extLst>
                    <a:ext uri="{9D8B030D-6E8A-4147-A177-3AD203B41FA5}">
                      <a16:colId xmlns:a16="http://schemas.microsoft.com/office/drawing/2014/main" val="671387887"/>
                    </a:ext>
                  </a:extLst>
                </a:gridCol>
              </a:tblGrid>
              <a:tr h="1054725">
                <a:tc>
                  <a:txBody>
                    <a:bodyPr/>
                    <a:lstStyle/>
                    <a:p>
                      <a:pPr algn="ctr">
                        <a:lnSpc>
                          <a:spcPct val="107000"/>
                        </a:lnSpc>
                        <a:spcAft>
                          <a:spcPts val="800"/>
                        </a:spcAft>
                      </a:pPr>
                      <a:r>
                        <a:rPr lang="en-IN" sz="1500" dirty="0">
                          <a:effectLst/>
                        </a:rPr>
                        <a:t>Sl.No.</a:t>
                      </a: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rPr>
                        <a:t>Equipment/Facilities</a:t>
                      </a: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rPr>
                        <a:t>Qty.</a:t>
                      </a: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rPr>
                        <a:t>Total</a:t>
                      </a:r>
                    </a:p>
                    <a:p>
                      <a:pPr algn="ctr">
                        <a:lnSpc>
                          <a:spcPct val="107000"/>
                        </a:lnSpc>
                        <a:spcAft>
                          <a:spcPts val="800"/>
                        </a:spcAft>
                      </a:pPr>
                      <a:r>
                        <a:rPr lang="en-IN" sz="1500" dirty="0">
                          <a:effectLst/>
                        </a:rPr>
                        <a:t>(in Rs.)</a:t>
                      </a: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rPr>
                        <a:t>Justification</a:t>
                      </a: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3445753"/>
                  </a:ext>
                </a:extLst>
              </a:tr>
              <a:tr h="842608">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1600" b="0" i="0" kern="1200" dirty="0">
                          <a:solidFill>
                            <a:schemeClr val="tx1"/>
                          </a:solidFill>
                          <a:effectLst/>
                          <a:latin typeface="+mn-lt"/>
                          <a:ea typeface="+mn-ea"/>
                          <a:cs typeface="+mn-cs"/>
                        </a:rPr>
                        <a:t>Domain Name and Website Hosting</a:t>
                      </a:r>
                      <a:endParaRPr lang="en-IN" sz="14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latin typeface="Calibri" panose="020F0502020204030204" pitchFamily="34" charset="0"/>
                          <a:ea typeface="Calibri" panose="020F0502020204030204" pitchFamily="34" charset="0"/>
                          <a:cs typeface="Latha" panose="020B0604020202020204" pitchFamily="34" charset="0"/>
                        </a:rPr>
                        <a:t>1(yr)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latin typeface="Calibri" panose="020F0502020204030204" pitchFamily="34" charset="0"/>
                          <a:ea typeface="Calibri" panose="020F0502020204030204" pitchFamily="34" charset="0"/>
                          <a:cs typeface="Latha" panose="020B0604020202020204" pitchFamily="34" charset="0"/>
                        </a:rPr>
                        <a:t>1500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1800" b="0" i="0" kern="1200" dirty="0">
                          <a:solidFill>
                            <a:schemeClr val="tx1"/>
                          </a:solidFill>
                          <a:effectLst/>
                          <a:latin typeface="+mn-lt"/>
                          <a:ea typeface="+mn-ea"/>
                          <a:cs typeface="+mn-cs"/>
                        </a:rPr>
                        <a:t>Registering domain names for both websites and paying for one year of basic web hosting for each.</a:t>
                      </a: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1803728"/>
                  </a:ext>
                </a:extLst>
              </a:tr>
              <a:tr h="842608">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1600" b="0" i="0" kern="1200" dirty="0">
                          <a:solidFill>
                            <a:schemeClr val="tx1"/>
                          </a:solidFill>
                          <a:effectLst/>
                          <a:latin typeface="+mn-lt"/>
                          <a:ea typeface="+mn-ea"/>
                          <a:cs typeface="+mn-cs"/>
                        </a:rPr>
                        <a:t>Software and Online Tools</a:t>
                      </a:r>
                      <a:endParaRPr lang="en-IN" sz="14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latin typeface="Calibri" panose="020F0502020204030204" pitchFamily="34" charset="0"/>
                          <a:ea typeface="Calibri" panose="020F0502020204030204" pitchFamily="34" charset="0"/>
                          <a:cs typeface="Latha" panose="020B0604020202020204" pitchFamily="34" charset="0"/>
                        </a:rPr>
                        <a:t>1(yr)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latin typeface="Calibri" panose="020F0502020204030204" pitchFamily="34" charset="0"/>
                          <a:ea typeface="Calibri" panose="020F0502020204030204" pitchFamily="34" charset="0"/>
                          <a:cs typeface="Latha" panose="020B0604020202020204" pitchFamily="34" charset="0"/>
                        </a:rPr>
                        <a:t>900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1800" b="0" i="0" kern="1200" dirty="0">
                          <a:solidFill>
                            <a:schemeClr val="tx1"/>
                          </a:solidFill>
                          <a:effectLst/>
                          <a:latin typeface="+mn-lt"/>
                          <a:ea typeface="+mn-ea"/>
                          <a:cs typeface="+mn-cs"/>
                        </a:rPr>
                        <a:t>Paid online tools/services that support OCR, form handling, or integration</a:t>
                      </a: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287185"/>
                  </a:ext>
                </a:extLst>
              </a:tr>
              <a:tr h="557524">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1600" b="0" i="0" kern="1200" dirty="0">
                          <a:solidFill>
                            <a:schemeClr val="tx1"/>
                          </a:solidFill>
                          <a:effectLst/>
                          <a:latin typeface="+mn-lt"/>
                          <a:ea typeface="+mn-ea"/>
                          <a:cs typeface="+mn-cs"/>
                        </a:rPr>
                        <a:t>Printing/Training Materials</a:t>
                      </a:r>
                      <a:endParaRPr lang="en-IN" sz="14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latin typeface="Calibri" panose="020F0502020204030204" pitchFamily="34" charset="0"/>
                          <a:ea typeface="Calibri" panose="020F0502020204030204" pitchFamily="34" charset="0"/>
                          <a:cs typeface="Latha" panose="020B0604020202020204" pitchFamily="34" charset="0"/>
                        </a:rPr>
                        <a:t>1(yr)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latin typeface="Calibri" panose="020F0502020204030204" pitchFamily="34" charset="0"/>
                          <a:ea typeface="Calibri" panose="020F0502020204030204" pitchFamily="34" charset="0"/>
                          <a:cs typeface="Latha" panose="020B0604020202020204" pitchFamily="34" charset="0"/>
                        </a:rPr>
                        <a:t>200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1800" b="0" i="0" kern="1200" dirty="0">
                          <a:solidFill>
                            <a:schemeClr val="tx1"/>
                          </a:solidFill>
                          <a:effectLst/>
                          <a:latin typeface="+mn-lt"/>
                          <a:ea typeface="+mn-ea"/>
                          <a:cs typeface="+mn-cs"/>
                        </a:rPr>
                        <a:t>Printing visual guides or handouts for staff/volunteer training sessions.</a:t>
                      </a: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6483904"/>
                  </a:ext>
                </a:extLst>
              </a:tr>
              <a:tr h="656212">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1600" b="0" i="0" kern="1200" dirty="0">
                          <a:solidFill>
                            <a:schemeClr val="tx1"/>
                          </a:solidFill>
                          <a:effectLst/>
                          <a:latin typeface="+mn-lt"/>
                          <a:ea typeface="+mn-ea"/>
                          <a:cs typeface="+mn-cs"/>
                        </a:rPr>
                        <a:t>Contingency/Emergency</a:t>
                      </a:r>
                      <a:endParaRPr lang="en-IN" sz="14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latin typeface="Calibri" panose="020F0502020204030204" pitchFamily="34" charset="0"/>
                          <a:ea typeface="Calibri" panose="020F0502020204030204" pitchFamily="34" charset="0"/>
                          <a:cs typeface="Latha" panose="020B0604020202020204" pitchFamily="34" charset="0"/>
                        </a:rPr>
                        <a:t>1(yr)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latin typeface="Calibri" panose="020F0502020204030204" pitchFamily="34" charset="0"/>
                          <a:ea typeface="Calibri" panose="020F0502020204030204" pitchFamily="34" charset="0"/>
                          <a:cs typeface="Latha" panose="020B0604020202020204" pitchFamily="34" charset="0"/>
                        </a:rPr>
                        <a:t>300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1800" b="0" i="0" kern="1200" dirty="0">
                          <a:solidFill>
                            <a:schemeClr val="tx1"/>
                          </a:solidFill>
                          <a:effectLst/>
                          <a:latin typeface="+mn-lt"/>
                          <a:ea typeface="+mn-ea"/>
                          <a:cs typeface="+mn-cs"/>
                        </a:rPr>
                        <a:t>Extra buffer for unexpected small expenses</a:t>
                      </a:r>
                    </a:p>
                    <a:p>
                      <a:pPr algn="ctr">
                        <a:lnSpc>
                          <a:spcPct val="107000"/>
                        </a:lnSpc>
                        <a:spcAft>
                          <a:spcPts val="800"/>
                        </a:spcAft>
                      </a:pPr>
                      <a:r>
                        <a:rPr lang="en-US" sz="1800" b="0" i="0" kern="1200" dirty="0">
                          <a:solidFill>
                            <a:schemeClr val="tx1"/>
                          </a:solidFill>
                          <a:effectLst/>
                          <a:latin typeface="+mn-lt"/>
                          <a:ea typeface="+mn-ea"/>
                          <a:cs typeface="+mn-cs"/>
                        </a:rPr>
                        <a:t> (</a:t>
                      </a:r>
                      <a:r>
                        <a:rPr lang="en-US" sz="1800" b="0" i="0" kern="1200" dirty="0" err="1">
                          <a:solidFill>
                            <a:schemeClr val="tx1"/>
                          </a:solidFill>
                          <a:effectLst/>
                          <a:latin typeface="+mn-lt"/>
                          <a:ea typeface="+mn-ea"/>
                          <a:cs typeface="+mn-cs"/>
                        </a:rPr>
                        <a:t>eg</a:t>
                      </a:r>
                      <a:r>
                        <a:rPr lang="en-US" sz="1800" b="0" i="0" kern="1200" dirty="0">
                          <a:solidFill>
                            <a:schemeClr val="tx1"/>
                          </a:solidFill>
                          <a:effectLst/>
                          <a:latin typeface="+mn-lt"/>
                          <a:ea typeface="+mn-ea"/>
                          <a:cs typeface="+mn-cs"/>
                        </a:rPr>
                        <a:t>: platform fees, troubleshooting).</a:t>
                      </a: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9652608"/>
                  </a:ext>
                </a:extLst>
              </a:tr>
              <a:tr h="349681">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1488854"/>
                  </a:ext>
                </a:extLst>
              </a:tr>
              <a:tr h="349681">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489680"/>
                  </a:ext>
                </a:extLst>
              </a:tr>
              <a:tr h="349681">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latin typeface="Calibri" panose="020F0502020204030204" pitchFamily="34" charset="0"/>
                          <a:ea typeface="Calibri" panose="020F0502020204030204" pitchFamily="34" charset="0"/>
                          <a:cs typeface="Latha" panose="020B0604020202020204" pitchFamily="34" charset="0"/>
                        </a:rPr>
                        <a:t>Grand Total</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500" dirty="0">
                          <a:effectLst/>
                          <a:latin typeface="Calibri" panose="020F0502020204030204" pitchFamily="34" charset="0"/>
                          <a:ea typeface="Calibri" panose="020F0502020204030204" pitchFamily="34" charset="0"/>
                          <a:cs typeface="Latha" panose="020B0604020202020204" pitchFamily="34" charset="0"/>
                        </a:rPr>
                        <a:t>2900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IN" sz="15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9227564"/>
                  </a:ext>
                </a:extLst>
              </a:tr>
            </a:tbl>
          </a:graphicData>
        </a:graphic>
      </p:graphicFrame>
    </p:spTree>
    <p:extLst>
      <p:ext uri="{BB962C8B-B14F-4D97-AF65-F5344CB8AC3E}">
        <p14:creationId xmlns:p14="http://schemas.microsoft.com/office/powerpoint/2010/main" val="2904894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4B4C4-A8CD-1F5C-F2A0-292B52C5025D}"/>
              </a:ext>
            </a:extLst>
          </p:cNvPr>
          <p:cNvSpPr>
            <a:spLocks noGrp="1"/>
          </p:cNvSpPr>
          <p:nvPr>
            <p:ph type="title"/>
          </p:nvPr>
        </p:nvSpPr>
        <p:spPr/>
        <p:txBody>
          <a:bodyPr/>
          <a:lstStyle/>
          <a:p>
            <a:r>
              <a:rPr lang="en-IN" dirty="0"/>
              <a:t>Concluding Remarks (Further directions)</a:t>
            </a:r>
          </a:p>
        </p:txBody>
      </p:sp>
      <p:sp>
        <p:nvSpPr>
          <p:cNvPr id="3" name="Content Placeholder 2">
            <a:extLst>
              <a:ext uri="{FF2B5EF4-FFF2-40B4-BE49-F238E27FC236}">
                <a16:creationId xmlns:a16="http://schemas.microsoft.com/office/drawing/2014/main" id="{11E7591B-135E-B9FE-D995-06956529CCE3}"/>
              </a:ext>
            </a:extLst>
          </p:cNvPr>
          <p:cNvSpPr>
            <a:spLocks noGrp="1"/>
          </p:cNvSpPr>
          <p:nvPr>
            <p:ph idx="1"/>
          </p:nvPr>
        </p:nvSpPr>
        <p:spPr/>
        <p:txBody>
          <a:bodyPr>
            <a:normAutofit fontScale="92500" lnSpcReduction="10000"/>
          </a:bodyPr>
          <a:lstStyle/>
          <a:p>
            <a:r>
              <a:rPr lang="en-US" b="1" dirty="0"/>
              <a:t>Scalability</a:t>
            </a:r>
            <a:r>
              <a:rPr lang="en-US" dirty="0"/>
              <a:t>: The digital solutions—automated billing app and outreach websites—can be easily replicated and adapted across 10+ NGOs or community initiatives using an open-source model, multiplying their impact.</a:t>
            </a:r>
          </a:p>
          <a:p>
            <a:r>
              <a:rPr lang="en-US" b="1" dirty="0"/>
              <a:t>Tech Advancements</a:t>
            </a:r>
            <a:r>
              <a:rPr lang="en-US" dirty="0"/>
              <a:t>: Future upgrades could include advanced data analytics for financial trends, chatbot-based support for payment queries, and multilingual interfaces to serve diverse regional teams.</a:t>
            </a:r>
          </a:p>
          <a:p>
            <a:r>
              <a:rPr lang="en-US" b="1" dirty="0"/>
              <a:t>Policy Advocacy</a:t>
            </a:r>
            <a:r>
              <a:rPr lang="en-US" dirty="0"/>
              <a:t>: By documenting operational improvements and community engagement outcomes, the NGO can advocate for broader adoption of digital tools in the nonprofit sector and seek partnerships or integration with national programs supporting transparent and efficient NGO operations.</a:t>
            </a:r>
          </a:p>
          <a:p>
            <a:endParaRPr lang="en-IN" dirty="0"/>
          </a:p>
        </p:txBody>
      </p:sp>
    </p:spTree>
    <p:extLst>
      <p:ext uri="{BB962C8B-B14F-4D97-AF65-F5344CB8AC3E}">
        <p14:creationId xmlns:p14="http://schemas.microsoft.com/office/powerpoint/2010/main" val="1166383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TotalTime>
  <Words>1553</Words>
  <Application>Microsoft Office PowerPoint</Application>
  <PresentationFormat>Widescreen</PresentationFormat>
  <Paragraphs>142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 Display</vt:lpstr>
      <vt:lpstr>Arial</vt:lpstr>
      <vt:lpstr>Calibri</vt:lpstr>
      <vt:lpstr>Calibri Light</vt:lpstr>
      <vt:lpstr>Office Theme</vt:lpstr>
      <vt:lpstr>Tech Innovations to Support NGO Operations</vt:lpstr>
      <vt:lpstr>Contents</vt:lpstr>
      <vt:lpstr>Problem Statement</vt:lpstr>
      <vt:lpstr>Details of the NGO</vt:lpstr>
      <vt:lpstr>Details of the NGO</vt:lpstr>
      <vt:lpstr>Thematic Area</vt:lpstr>
      <vt:lpstr>Proposed Engineering Solution</vt:lpstr>
      <vt:lpstr>Proposed Engineering Solution</vt:lpstr>
      <vt:lpstr>Non-Profit Alignment </vt:lpstr>
      <vt:lpstr>Proposed Milestones and Timelines</vt:lpstr>
      <vt:lpstr>Expected Deliverables</vt:lpstr>
      <vt:lpstr>Expected Deliverables</vt:lpstr>
      <vt:lpstr>Expected plan to Assess the Impact</vt:lpstr>
      <vt:lpstr>Expected plan to Assess the Impact</vt:lpstr>
      <vt:lpstr>Proposed Budget</vt:lpstr>
      <vt:lpstr>Concluding Remarks (Further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Balaji Ganesh R V Rajagopal L V</dc:creator>
  <cp:lastModifiedBy>Afeef Ahmed</cp:lastModifiedBy>
  <cp:revision>8</cp:revision>
  <dcterms:created xsi:type="dcterms:W3CDTF">2024-06-05T07:50:11Z</dcterms:created>
  <dcterms:modified xsi:type="dcterms:W3CDTF">2025-07-28T19:25:13Z</dcterms:modified>
</cp:coreProperties>
</file>